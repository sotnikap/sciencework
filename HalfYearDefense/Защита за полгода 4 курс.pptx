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7"/>
  </p:notesMasterIdLst>
  <p:sldIdLst>
    <p:sldId id="256" r:id="rId2"/>
    <p:sldId id="265" r:id="rId3"/>
    <p:sldId id="272" r:id="rId4"/>
    <p:sldId id="266" r:id="rId5"/>
    <p:sldId id="269" r:id="rId6"/>
    <p:sldId id="257" r:id="rId7"/>
    <p:sldId id="259" r:id="rId8"/>
    <p:sldId id="262" r:id="rId9"/>
    <p:sldId id="263" r:id="rId10"/>
    <p:sldId id="268" r:id="rId11"/>
    <p:sldId id="273" r:id="rId12"/>
    <p:sldId id="270" r:id="rId13"/>
    <p:sldId id="264" r:id="rId14"/>
    <p:sldId id="260" r:id="rId15"/>
    <p:sldId id="271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07" autoAdjust="0"/>
  </p:normalViewPr>
  <p:slideViewPr>
    <p:cSldViewPr>
      <p:cViewPr>
        <p:scale>
          <a:sx n="132" d="100"/>
          <a:sy n="132" d="100"/>
        </p:scale>
        <p:origin x="-1014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96E7B-D795-4D08-A5AF-119BF9F9FEC0}" type="datetimeFigureOut">
              <a:rPr lang="ru-RU" smtClean="0"/>
              <a:pPr/>
              <a:t>22.12.2017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CAE8C-5CFC-49AD-B85C-96C0ED4369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94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908E4ED-7147-4A31-9E6A-B0AF253FC7EF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2A6B02-E31F-4691-A8CE-6D4B6DC51AA3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FA1F74-D924-41F0-B3A8-A2BD1F000E88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2DEC4C4-BCBD-410D-952C-31D6CCD39261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784F4C-2016-4C6B-8783-BEF50AE89015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8D44C9-3BE5-4316-8704-3BDA673FF0E8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1E7E05E-F0FF-4C5E-97F0-62456D618908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52302DC-FD16-4E1E-84E2-BA4A24A18297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1614168-E6D6-44B1-83D8-6FE45640A3FB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938973-644C-450C-B993-9987B339EA95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5C11F3-D45D-4DA8-8115-AA4209FF4128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304A711-A30F-445D-A830-61DD303912E5}" type="datetime1">
              <a:rPr lang="ru-RU" smtClean="0"/>
              <a:pPr/>
              <a:t>22.12.2017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8D1145B-2EB5-4CFD-B752-AB1DC1C49C9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82976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Программная реализация нахождения правого частного на полуавтоматах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Выполнил: Сотников А.П.</a:t>
            </a:r>
          </a:p>
          <a:p>
            <a:r>
              <a:rPr lang="ru-RU" dirty="0" smtClean="0"/>
              <a:t>Научный руководитель: </a:t>
            </a:r>
            <a:r>
              <a:rPr lang="ru-RU" dirty="0" err="1" smtClean="0"/>
              <a:t>Шабалдина</a:t>
            </a:r>
            <a:r>
              <a:rPr lang="ru-RU" dirty="0" smtClean="0"/>
              <a:t> Н.В.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Возрастает размер</a:t>
            </a:r>
            <a:r>
              <a:rPr lang="en-US" dirty="0" smtClean="0"/>
              <a:t> </a:t>
            </a:r>
            <a:r>
              <a:rPr lang="ru-RU" dirty="0" smtClean="0"/>
              <a:t>и сложность </a:t>
            </a:r>
            <a:r>
              <a:rPr lang="ru-RU" dirty="0" err="1" smtClean="0"/>
              <a:t>веб-сервисов</a:t>
            </a:r>
            <a:endParaRPr lang="ru-RU" dirty="0" smtClean="0"/>
          </a:p>
          <a:p>
            <a:r>
              <a:rPr lang="ru-RU" dirty="0" smtClean="0"/>
              <a:t>Вопрос обеспечения безопасности</a:t>
            </a:r>
          </a:p>
          <a:p>
            <a:r>
              <a:rPr lang="ru-RU" dirty="0" smtClean="0"/>
              <a:t>Уязвимое место, с помощью которого производят атаки – поля, заполняемые пользователями</a:t>
            </a:r>
          </a:p>
          <a:p>
            <a:r>
              <a:rPr lang="ru-RU" dirty="0" smtClean="0"/>
              <a:t>Необходима фильтрация вводимых пользователями </a:t>
            </a:r>
            <a:r>
              <a:rPr lang="ru-RU" dirty="0" smtClean="0"/>
              <a:t>данных</a:t>
            </a:r>
            <a:endParaRPr lang="ru-RU" dirty="0" smtClean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803656"/>
          </a:xfrm>
        </p:spPr>
        <p:txBody>
          <a:bodyPr/>
          <a:lstStyle/>
          <a:p>
            <a:r>
              <a:rPr lang="ru-RU" dirty="0" smtClean="0"/>
              <a:t>Преобразованный в полуавтомат код проверяется на наличие атак</a:t>
            </a:r>
          </a:p>
          <a:p>
            <a:r>
              <a:rPr lang="ru-RU" dirty="0" smtClean="0"/>
              <a:t>Если атака присутствует, её необходимо отфильтровать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 (2)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3573016"/>
            <a:ext cx="3096344" cy="1512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Введённые пользователем данные внутри неизменяемого кода</a:t>
            </a:r>
            <a:endParaRPr lang="ru-RU" baseline="-250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52120" y="3573016"/>
            <a:ext cx="3096344" cy="1512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Атака (возможно чуть больше)</a:t>
            </a:r>
            <a:endParaRPr lang="ru-RU" baseline="-25000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6" idx="3"/>
            <a:endCxn id="7" idx="1"/>
          </p:cNvCxnSpPr>
          <p:nvPr/>
        </p:nvCxnSpPr>
        <p:spPr>
          <a:xfrm>
            <a:off x="3491880" y="4329100"/>
            <a:ext cx="2160240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7904" y="393305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фильтрация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Программная реализация нахождения правого частного на полуавтоматах для последующих экспериментальных исследований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179919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Изучение литературы (работы тайваньских коллег по веб-безопасности)</a:t>
            </a:r>
          </a:p>
          <a:p>
            <a:r>
              <a:rPr lang="ru-RU" dirty="0" smtClean="0"/>
              <a:t>Изучение операции правого частного над полуавтоматами (книга </a:t>
            </a:r>
            <a:r>
              <a:rPr lang="en-US" dirty="0" smtClean="0"/>
              <a:t>Peter Linz “An introduction to Formal Languages and Automata”)</a:t>
            </a:r>
            <a:endParaRPr lang="ru-RU" dirty="0" smtClean="0"/>
          </a:p>
          <a:p>
            <a:r>
              <a:rPr lang="ru-RU" dirty="0" smtClean="0"/>
              <a:t>Алгоритмизация и программная реализация нахождения правого частного</a:t>
            </a:r>
          </a:p>
          <a:p>
            <a:r>
              <a:rPr lang="ru-RU" dirty="0" smtClean="0"/>
              <a:t>Отладка программы</a:t>
            </a:r>
          </a:p>
          <a:p>
            <a:r>
              <a:rPr lang="ru-RU" dirty="0" smtClean="0"/>
              <a:t>Написание отчета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/>
          <a:lstStyle/>
          <a:p>
            <a:r>
              <a:rPr lang="en-US" i="1" dirty="0" smtClean="0"/>
              <a:t>L</a:t>
            </a:r>
            <a:r>
              <a:rPr lang="ru-RU" baseline="-25000" dirty="0" smtClean="0"/>
              <a:t>1</a:t>
            </a:r>
            <a:r>
              <a:rPr lang="en-US" dirty="0" smtClean="0"/>
              <a:t>/</a:t>
            </a:r>
            <a:r>
              <a:rPr lang="en-US" i="1" dirty="0" smtClean="0"/>
              <a:t>L</a:t>
            </a:r>
            <a:r>
              <a:rPr lang="ru-RU" baseline="-25000" dirty="0" smtClean="0"/>
              <a:t>2</a:t>
            </a:r>
            <a:r>
              <a:rPr lang="en-US" dirty="0" smtClean="0"/>
              <a:t> = {</a:t>
            </a:r>
            <a:r>
              <a:rPr lang="en-US" i="1" dirty="0" smtClean="0"/>
              <a:t>x</a:t>
            </a:r>
            <a:r>
              <a:rPr lang="en-US" dirty="0" smtClean="0"/>
              <a:t>:</a:t>
            </a:r>
            <a:r>
              <a:rPr lang="en-US" i="1" dirty="0" smtClean="0"/>
              <a:t>xy</a:t>
            </a:r>
            <a:r>
              <a:rPr lang="ru-RU" dirty="0" smtClean="0"/>
              <a:t>∈</a:t>
            </a:r>
            <a:r>
              <a:rPr lang="en-US" i="1" dirty="0" smtClean="0"/>
              <a:t> L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для некоторого </a:t>
            </a:r>
            <a:r>
              <a:rPr lang="en-US" i="1" dirty="0" smtClean="0"/>
              <a:t>y</a:t>
            </a:r>
            <a:r>
              <a:rPr lang="ru-RU" dirty="0" smtClean="0"/>
              <a:t>∈</a:t>
            </a:r>
            <a:r>
              <a:rPr lang="en-US" i="1" dirty="0" smtClean="0"/>
              <a:t> L</a:t>
            </a:r>
            <a:r>
              <a:rPr lang="ru-RU" baseline="-25000" dirty="0" smtClean="0"/>
              <a:t>2</a:t>
            </a:r>
            <a:r>
              <a:rPr lang="en-US" dirty="0" smtClean="0"/>
              <a:t>}</a:t>
            </a:r>
          </a:p>
          <a:p>
            <a:r>
              <a:rPr lang="en-US" i="1" dirty="0" smtClean="0"/>
              <a:t>L</a:t>
            </a:r>
            <a:r>
              <a:rPr lang="ru-RU" baseline="-25000" dirty="0" smtClean="0"/>
              <a:t>1</a:t>
            </a:r>
            <a:r>
              <a:rPr lang="en-US" dirty="0" smtClean="0"/>
              <a:t>/</a:t>
            </a:r>
            <a:r>
              <a:rPr lang="en-US" i="1" dirty="0" smtClean="0"/>
              <a:t>L</a:t>
            </a:r>
            <a:r>
              <a:rPr lang="ru-RU" baseline="-25000" dirty="0" smtClean="0"/>
              <a:t>2</a:t>
            </a:r>
            <a:r>
              <a:rPr lang="en-US" dirty="0" smtClean="0"/>
              <a:t> </a:t>
            </a:r>
            <a:r>
              <a:rPr lang="ru-RU" dirty="0" smtClean="0"/>
              <a:t>– множество всех </a:t>
            </a:r>
            <a:r>
              <a:rPr lang="ru-RU" i="1" dirty="0" err="1" smtClean="0"/>
              <a:t>х</a:t>
            </a:r>
            <a:r>
              <a:rPr lang="ru-RU" dirty="0" smtClean="0"/>
              <a:t>, такое, что </a:t>
            </a:r>
            <a:r>
              <a:rPr lang="en-US" i="1" dirty="0" err="1" smtClean="0"/>
              <a:t>xy</a:t>
            </a:r>
            <a:r>
              <a:rPr lang="ru-RU" dirty="0" smtClean="0"/>
              <a:t>∈</a:t>
            </a:r>
            <a:r>
              <a:rPr lang="en-US" i="1" dirty="0" smtClean="0"/>
              <a:t> L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для некоторого </a:t>
            </a:r>
            <a:r>
              <a:rPr lang="en-US" i="1" dirty="0" smtClean="0"/>
              <a:t>y</a:t>
            </a:r>
            <a:r>
              <a:rPr lang="ru-RU" dirty="0" smtClean="0"/>
              <a:t>∈</a:t>
            </a:r>
            <a:r>
              <a:rPr lang="en-US" i="1" dirty="0" smtClean="0"/>
              <a:t> L</a:t>
            </a:r>
            <a:r>
              <a:rPr lang="ru-RU" baseline="-25000" dirty="0" smtClean="0"/>
              <a:t>2</a:t>
            </a:r>
            <a:endParaRPr lang="en-US" dirty="0" smtClean="0"/>
          </a:p>
          <a:p>
            <a:r>
              <a:rPr lang="ru-RU" sz="2000" dirty="0" smtClean="0"/>
              <a:t>Пример:</a:t>
            </a:r>
            <a:br>
              <a:rPr lang="ru-RU" sz="2000" dirty="0" smtClean="0"/>
            </a:br>
            <a:r>
              <a:rPr lang="ru-RU" sz="2000" dirty="0" smtClean="0"/>
              <a:t>        </a:t>
            </a:r>
            <a:r>
              <a:rPr lang="en-US" sz="2000" i="1" dirty="0" smtClean="0"/>
              <a:t>L</a:t>
            </a:r>
            <a:r>
              <a:rPr lang="ru-RU" sz="2000" baseline="-25000" dirty="0" smtClean="0"/>
              <a:t>1</a:t>
            </a:r>
            <a:r>
              <a:rPr lang="en-US" sz="2000" dirty="0" smtClean="0"/>
              <a:t>: {</a:t>
            </a:r>
            <a:r>
              <a:rPr lang="ru-RU" sz="2000" dirty="0" smtClean="0"/>
              <a:t>Полуавтомат</a:t>
            </a:r>
            <a:r>
              <a:rPr lang="en-US" sz="2000" dirty="0" smtClean="0"/>
              <a:t>,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            </a:t>
            </a:r>
            <a:r>
              <a:rPr lang="ru-RU" sz="2000" dirty="0" err="1" smtClean="0"/>
              <a:t>Токовод</a:t>
            </a:r>
            <a:r>
              <a:rPr lang="en-US" sz="2000" dirty="0" smtClean="0"/>
              <a:t>}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	   </a:t>
            </a:r>
            <a:r>
              <a:rPr lang="en-US" sz="2000" i="1" dirty="0" smtClean="0"/>
              <a:t>L</a:t>
            </a:r>
            <a:r>
              <a:rPr lang="ru-RU" sz="2000" baseline="-25000" dirty="0"/>
              <a:t>2</a:t>
            </a:r>
            <a:r>
              <a:rPr lang="en-US" sz="2000" dirty="0" smtClean="0"/>
              <a:t>:</a:t>
            </a:r>
            <a:r>
              <a:rPr lang="ru-RU" sz="2000" dirty="0" smtClean="0"/>
              <a:t> </a:t>
            </a:r>
            <a:r>
              <a:rPr lang="en-US" sz="2000" dirty="0" smtClean="0"/>
              <a:t>{</a:t>
            </a:r>
            <a:r>
              <a:rPr lang="ru-RU" sz="2000" dirty="0" smtClean="0"/>
              <a:t>Полу</a:t>
            </a:r>
            <a:r>
              <a:rPr lang="en-US" sz="2000" dirty="0" smtClean="0"/>
              <a:t>,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            </a:t>
            </a:r>
            <a:r>
              <a:rPr lang="ru-RU" sz="2000" dirty="0" err="1" smtClean="0"/>
              <a:t>Токо</a:t>
            </a:r>
            <a:r>
              <a:rPr lang="en-US" sz="2000" dirty="0" smtClean="0"/>
              <a:t>}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i="1" dirty="0" smtClean="0"/>
              <a:t> L</a:t>
            </a:r>
            <a:r>
              <a:rPr lang="ru-RU" sz="2000" baseline="-25000" dirty="0" smtClean="0"/>
              <a:t>1 </a:t>
            </a:r>
            <a:r>
              <a:rPr lang="en-US" sz="2000" dirty="0" smtClean="0"/>
              <a:t>/</a:t>
            </a:r>
            <a:r>
              <a:rPr lang="en-US" sz="2000" i="1" dirty="0" smtClean="0"/>
              <a:t> L</a:t>
            </a:r>
            <a:r>
              <a:rPr lang="ru-RU" sz="2000" baseline="-25000" dirty="0" smtClean="0"/>
              <a:t>2</a:t>
            </a:r>
            <a:r>
              <a:rPr lang="en-US" sz="2000" dirty="0" smtClean="0"/>
              <a:t> :</a:t>
            </a:r>
            <a:r>
              <a:rPr lang="ru-RU" sz="2000" dirty="0" smtClean="0"/>
              <a:t> </a:t>
            </a:r>
            <a:r>
              <a:rPr lang="en-US" sz="2000" dirty="0" smtClean="0"/>
              <a:t>{</a:t>
            </a:r>
            <a:r>
              <a:rPr lang="ru-RU" sz="2000" dirty="0" smtClean="0"/>
              <a:t>автомат,</a:t>
            </a:r>
            <a:br>
              <a:rPr lang="ru-RU" sz="2000" dirty="0" smtClean="0"/>
            </a:br>
            <a:r>
              <a:rPr lang="ru-RU" sz="2000" dirty="0" smtClean="0"/>
              <a:t>              вод</a:t>
            </a:r>
            <a:r>
              <a:rPr lang="en-US" sz="2000" dirty="0" smtClean="0"/>
              <a:t>}</a:t>
            </a:r>
            <a:endParaRPr lang="ru-RU" sz="2000" dirty="0" smtClean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Правое частное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771800" y="5229200"/>
            <a:ext cx="2160240" cy="1055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aseline="-25000" dirty="0" smtClean="0">
                <a:solidFill>
                  <a:schemeClr val="tx1"/>
                </a:solidFill>
              </a:rPr>
              <a:t>Полуавтомат</a:t>
            </a:r>
            <a:br>
              <a:rPr lang="ru-RU" sz="2800" baseline="-25000" dirty="0" smtClean="0">
                <a:solidFill>
                  <a:schemeClr val="tx1"/>
                </a:solidFill>
              </a:rPr>
            </a:br>
            <a:r>
              <a:rPr lang="ru-RU" sz="2800" baseline="-25000" dirty="0" err="1" smtClean="0">
                <a:solidFill>
                  <a:schemeClr val="tx1"/>
                </a:solidFill>
              </a:rPr>
              <a:t>Токовод</a:t>
            </a:r>
            <a:endParaRPr lang="ru-RU" sz="2800" baseline="-250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04248" y="5229200"/>
            <a:ext cx="2160240" cy="1055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aseline="-25000" dirty="0" smtClean="0">
                <a:solidFill>
                  <a:schemeClr val="tx1"/>
                </a:solidFill>
              </a:rPr>
              <a:t>Полу</a:t>
            </a:r>
            <a:br>
              <a:rPr lang="ru-RU" sz="2800" baseline="-25000" dirty="0" smtClean="0">
                <a:solidFill>
                  <a:schemeClr val="tx1"/>
                </a:solidFill>
              </a:rPr>
            </a:br>
            <a:r>
              <a:rPr lang="ru-RU" sz="2800" baseline="-25000" dirty="0" err="1" smtClean="0">
                <a:solidFill>
                  <a:schemeClr val="tx1"/>
                </a:solidFill>
              </a:rPr>
              <a:t>Токо</a:t>
            </a:r>
            <a:endParaRPr lang="ru-RU" sz="2800" baseline="-25000" dirty="0" smtClean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>
            <a:stCxn id="9" idx="3"/>
            <a:endCxn id="10" idx="1"/>
          </p:cNvCxnSpPr>
          <p:nvPr/>
        </p:nvCxnSpPr>
        <p:spPr>
          <a:xfrm>
            <a:off x="4932040" y="5756701"/>
            <a:ext cx="1872208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08104" y="5157192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L</a:t>
            </a:r>
            <a:r>
              <a:rPr lang="ru-RU" sz="2400" baseline="-25000" dirty="0" smtClean="0"/>
              <a:t>1</a:t>
            </a:r>
            <a:r>
              <a:rPr lang="en-US" sz="2400" dirty="0" smtClean="0"/>
              <a:t>/</a:t>
            </a:r>
            <a:r>
              <a:rPr lang="en-US" sz="2400" i="1" dirty="0" smtClean="0"/>
              <a:t>L</a:t>
            </a:r>
            <a:r>
              <a:rPr lang="ru-RU" sz="2400" baseline="-25000" dirty="0" smtClean="0"/>
              <a:t>2</a:t>
            </a:r>
            <a:endParaRPr lang="ru-R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3563888" y="472514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L</a:t>
            </a:r>
            <a:r>
              <a:rPr lang="ru-RU" sz="2400" baseline="-25000" dirty="0" smtClean="0"/>
              <a:t>1</a:t>
            </a:r>
            <a:endParaRPr lang="ru-R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7668344" y="472514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L</a:t>
            </a:r>
            <a:r>
              <a:rPr lang="ru-RU" sz="2400" baseline="-25000" dirty="0" smtClean="0"/>
              <a:t>2</a:t>
            </a:r>
            <a:endParaRPr lang="ru-R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4499992" y="4242574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Постоянная часть программы</a:t>
            </a:r>
            <a:endParaRPr lang="ru-RU" sz="1600" dirty="0"/>
          </a:p>
        </p:txBody>
      </p:sp>
      <p:cxnSp>
        <p:nvCxnSpPr>
          <p:cNvPr id="32" name="Прямая со стрелкой 31"/>
          <p:cNvCxnSpPr>
            <a:stCxn id="12" idx="0"/>
          </p:cNvCxnSpPr>
          <p:nvPr/>
        </p:nvCxnSpPr>
        <p:spPr>
          <a:xfrm flipV="1">
            <a:off x="5976156" y="4475747"/>
            <a:ext cx="3539" cy="6814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исходным языкам </a:t>
            </a:r>
            <a:r>
              <a:rPr lang="en-US" i="1" dirty="0" smtClean="0"/>
              <a:t>L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i="1" dirty="0" smtClean="0"/>
              <a:t>L</a:t>
            </a:r>
            <a:r>
              <a:rPr lang="ru-RU" baseline="-25000" dirty="0" smtClean="0"/>
              <a:t>2</a:t>
            </a:r>
            <a:r>
              <a:rPr lang="ru-RU" dirty="0" smtClean="0"/>
              <a:t> строим полуавтоматы</a:t>
            </a:r>
            <a:r>
              <a:rPr lang="en-US" dirty="0" smtClean="0"/>
              <a:t> </a:t>
            </a:r>
            <a:r>
              <a:rPr lang="ru-RU" i="1" dirty="0" smtClean="0"/>
              <a:t>А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ru-RU" i="1" dirty="0" smtClean="0"/>
              <a:t>А</a:t>
            </a:r>
            <a:r>
              <a:rPr lang="ru-RU" baseline="-25000" dirty="0" smtClean="0"/>
              <a:t>2</a:t>
            </a:r>
            <a:endParaRPr lang="ru-RU" dirty="0" smtClean="0"/>
          </a:p>
          <a:p>
            <a:r>
              <a:rPr lang="ru-RU" dirty="0" smtClean="0"/>
              <a:t>Полуавтомат </a:t>
            </a:r>
            <a:r>
              <a:rPr lang="ru-RU" i="1" dirty="0" smtClean="0"/>
              <a:t>А</a:t>
            </a:r>
            <a:r>
              <a:rPr lang="ru-RU" baseline="-25000" dirty="0" smtClean="0"/>
              <a:t>1</a:t>
            </a:r>
            <a:r>
              <a:rPr lang="en-US" dirty="0" smtClean="0"/>
              <a:t>/</a:t>
            </a:r>
            <a:r>
              <a:rPr lang="ru-RU" i="1" dirty="0" smtClean="0"/>
              <a:t>А</a:t>
            </a:r>
            <a:r>
              <a:rPr lang="ru-RU" baseline="-25000" dirty="0" smtClean="0"/>
              <a:t>2</a:t>
            </a:r>
            <a:r>
              <a:rPr lang="ru-RU" dirty="0" smtClean="0"/>
              <a:t>, описывающий правое частное, отличается от полуавтомата </a:t>
            </a:r>
            <a:r>
              <a:rPr lang="ru-RU" i="1" dirty="0"/>
              <a:t>А</a:t>
            </a:r>
            <a:r>
              <a:rPr lang="ru-RU" baseline="-25000" dirty="0"/>
              <a:t>1 </a:t>
            </a:r>
            <a:r>
              <a:rPr lang="ru-RU" dirty="0" smtClean="0"/>
              <a:t>набором финальных состояний</a:t>
            </a:r>
            <a:endParaRPr lang="en-US" dirty="0" smtClean="0"/>
          </a:p>
          <a:p>
            <a:r>
              <a:rPr lang="ru-RU" dirty="0" smtClean="0"/>
              <a:t>Последовательно делаем каждое состояние </a:t>
            </a:r>
            <a:r>
              <a:rPr lang="ru-RU" i="1" dirty="0" smtClean="0"/>
              <a:t>А</a:t>
            </a:r>
            <a:r>
              <a:rPr lang="ru-RU" baseline="-25000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начальным и пересекаем </a:t>
            </a:r>
            <a:r>
              <a:rPr lang="ru-RU" i="1" dirty="0" smtClean="0"/>
              <a:t>А</a:t>
            </a:r>
            <a:r>
              <a:rPr lang="ru-RU" baseline="-25000" dirty="0" smtClean="0"/>
              <a:t>1</a:t>
            </a:r>
            <a:r>
              <a:rPr lang="ru-RU" dirty="0" smtClean="0"/>
              <a:t> с </a:t>
            </a:r>
            <a:r>
              <a:rPr lang="ru-RU" i="1" dirty="0" smtClean="0"/>
              <a:t>А</a:t>
            </a:r>
            <a:r>
              <a:rPr lang="ru-RU" baseline="-25000" dirty="0" smtClean="0"/>
              <a:t>2</a:t>
            </a:r>
            <a:r>
              <a:rPr lang="ru-RU" dirty="0" smtClean="0"/>
              <a:t>, если пересечение не пусто, то текущее </a:t>
            </a:r>
            <a:r>
              <a:rPr lang="ru-RU" b="1" dirty="0" smtClean="0"/>
              <a:t>начальное</a:t>
            </a:r>
            <a:r>
              <a:rPr lang="ru-RU" dirty="0" smtClean="0"/>
              <a:t> в </a:t>
            </a:r>
            <a:r>
              <a:rPr lang="ru-RU" i="1" dirty="0" smtClean="0"/>
              <a:t>А</a:t>
            </a:r>
            <a:r>
              <a:rPr lang="ru-RU" baseline="-25000" dirty="0" smtClean="0"/>
              <a:t>1</a:t>
            </a:r>
            <a:r>
              <a:rPr lang="ru-RU" dirty="0" smtClean="0"/>
              <a:t> состояние будет </a:t>
            </a:r>
            <a:r>
              <a:rPr lang="ru-RU" b="1" dirty="0" smtClean="0"/>
              <a:t>финальным</a:t>
            </a:r>
            <a:r>
              <a:rPr lang="ru-RU" dirty="0" smtClean="0"/>
              <a:t> в полуавтомате </a:t>
            </a:r>
            <a:r>
              <a:rPr lang="ru-RU" i="1" dirty="0" smtClean="0"/>
              <a:t>А</a:t>
            </a:r>
            <a:r>
              <a:rPr lang="ru-RU" baseline="-25000" dirty="0" smtClean="0"/>
              <a:t>1 </a:t>
            </a:r>
            <a:r>
              <a:rPr lang="en-US" dirty="0" smtClean="0"/>
              <a:t>/</a:t>
            </a:r>
            <a:r>
              <a:rPr lang="ru-RU" i="1" dirty="0" smtClean="0"/>
              <a:t> А</a:t>
            </a:r>
            <a:r>
              <a:rPr lang="ru-RU" baseline="-25000" dirty="0" smtClean="0"/>
              <a:t>2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Основные моменты алгоритма построения правого частного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Представление полуавтоматов</a:t>
            </a:r>
            <a:endParaRPr lang="ru-RU" dirty="0"/>
          </a:p>
        </p:txBody>
      </p:sp>
      <p:grpSp>
        <p:nvGrpSpPr>
          <p:cNvPr id="47" name="Группа 46"/>
          <p:cNvGrpSpPr/>
          <p:nvPr/>
        </p:nvGrpSpPr>
        <p:grpSpPr>
          <a:xfrm>
            <a:off x="971600" y="1124744"/>
            <a:ext cx="3240360" cy="2539372"/>
            <a:chOff x="467544" y="1089538"/>
            <a:chExt cx="3240360" cy="2539372"/>
          </a:xfrm>
        </p:grpSpPr>
        <p:sp>
          <p:nvSpPr>
            <p:cNvPr id="4" name="Овал 3"/>
            <p:cNvSpPr/>
            <p:nvPr/>
          </p:nvSpPr>
          <p:spPr>
            <a:xfrm>
              <a:off x="539552" y="1556792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0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1619672" y="1556792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2699792" y="1556792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53955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3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Овал 7"/>
            <p:cNvSpPr/>
            <p:nvPr/>
          </p:nvSpPr>
          <p:spPr>
            <a:xfrm>
              <a:off x="161967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Овал 8"/>
            <p:cNvSpPr/>
            <p:nvPr/>
          </p:nvSpPr>
          <p:spPr>
            <a:xfrm>
              <a:off x="269979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5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3" name="Прямая со стрелкой 12"/>
            <p:cNvCxnSpPr>
              <a:stCxn id="4" idx="6"/>
              <a:endCxn id="5" idx="2"/>
            </p:cNvCxnSpPr>
            <p:nvPr/>
          </p:nvCxnSpPr>
          <p:spPr>
            <a:xfrm>
              <a:off x="971600" y="1772816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/>
            <p:cNvCxnSpPr>
              <a:stCxn id="4" idx="4"/>
              <a:endCxn id="7" idx="0"/>
            </p:cNvCxnSpPr>
            <p:nvPr/>
          </p:nvCxnSpPr>
          <p:spPr>
            <a:xfrm>
              <a:off x="755576" y="1988840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/>
            <p:cNvCxnSpPr>
              <a:stCxn id="5" idx="6"/>
              <a:endCxn id="6" idx="2"/>
            </p:cNvCxnSpPr>
            <p:nvPr/>
          </p:nvCxnSpPr>
          <p:spPr>
            <a:xfrm>
              <a:off x="2051720" y="1772816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>
              <a:stCxn id="5" idx="0"/>
              <a:endCxn id="5" idx="0"/>
            </p:cNvCxnSpPr>
            <p:nvPr/>
          </p:nvCxnSpPr>
          <p:spPr>
            <a:xfrm>
              <a:off x="1835696" y="1556792"/>
              <a:ext cx="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>
              <a:stCxn id="6" idx="4"/>
              <a:endCxn id="9" idx="0"/>
            </p:cNvCxnSpPr>
            <p:nvPr/>
          </p:nvCxnSpPr>
          <p:spPr>
            <a:xfrm>
              <a:off x="2915816" y="1988840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>
              <a:stCxn id="7" idx="6"/>
              <a:endCxn id="8" idx="2"/>
            </p:cNvCxnSpPr>
            <p:nvPr/>
          </p:nvCxnSpPr>
          <p:spPr>
            <a:xfrm>
              <a:off x="971600" y="2924944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34"/>
            <p:cNvCxnSpPr>
              <a:stCxn id="7" idx="4"/>
              <a:endCxn id="9" idx="4"/>
            </p:cNvCxnSpPr>
            <p:nvPr/>
          </p:nvCxnSpPr>
          <p:spPr>
            <a:xfrm rot="16200000" flipH="1">
              <a:off x="1835696" y="2060848"/>
              <a:ext cx="12700" cy="2160240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>
              <a:stCxn id="8" idx="6"/>
              <a:endCxn id="9" idx="2"/>
            </p:cNvCxnSpPr>
            <p:nvPr/>
          </p:nvCxnSpPr>
          <p:spPr>
            <a:xfrm>
              <a:off x="2051720" y="2924944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9" idx="4"/>
              <a:endCxn id="9" idx="6"/>
            </p:cNvCxnSpPr>
            <p:nvPr/>
          </p:nvCxnSpPr>
          <p:spPr>
            <a:xfrm rot="5400000" flipH="1" flipV="1">
              <a:off x="2915816" y="2924944"/>
              <a:ext cx="216024" cy="216024"/>
            </a:xfrm>
            <a:prstGeom prst="curvedConnector4">
              <a:avLst>
                <a:gd name="adj1" fmla="val -105822"/>
                <a:gd name="adj2" fmla="val 205822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Скругленная соединительная линия 21"/>
            <p:cNvCxnSpPr>
              <a:stCxn id="5" idx="1"/>
              <a:endCxn id="5" idx="7"/>
            </p:cNvCxnSpPr>
            <p:nvPr/>
          </p:nvCxnSpPr>
          <p:spPr>
            <a:xfrm rot="5400000" flipH="1" flipV="1">
              <a:off x="1835696" y="1467312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Скругленная соединительная линия 22"/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2915816" y="1467312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115616" y="148478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95237" y="108953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843808" y="220486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616" y="2887270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23728" y="2898050"/>
              <a:ext cx="504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,2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3848" y="3212976"/>
              <a:ext cx="5040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,2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7544" y="220486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63688" y="3321133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195736" y="1520642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80764" y="1097560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6084168" y="1124744"/>
            <a:ext cx="1440160" cy="2204720"/>
            <a:chOff x="5796136" y="1025551"/>
            <a:chExt cx="1440160" cy="2204720"/>
          </a:xfrm>
        </p:grpSpPr>
        <p:sp>
          <p:nvSpPr>
            <p:cNvPr id="10" name="Овал 9"/>
            <p:cNvSpPr/>
            <p:nvPr/>
          </p:nvSpPr>
          <p:spPr>
            <a:xfrm>
              <a:off x="5868144" y="1484784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Courier New" pitchFamily="49" charset="0"/>
                  <a:cs typeface="Courier New" pitchFamily="49" charset="0"/>
                </a:rPr>
                <a:t>0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Овал 10"/>
            <p:cNvSpPr/>
            <p:nvPr/>
          </p:nvSpPr>
          <p:spPr>
            <a:xfrm>
              <a:off x="5868144" y="234888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Овал 11"/>
            <p:cNvSpPr/>
            <p:nvPr/>
          </p:nvSpPr>
          <p:spPr>
            <a:xfrm>
              <a:off x="6804248" y="1484784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34" name="Скругленная соединительная линия 33"/>
            <p:cNvCxnSpPr>
              <a:stCxn id="10" idx="4"/>
              <a:endCxn id="11" idx="0"/>
            </p:cNvCxnSpPr>
            <p:nvPr/>
          </p:nvCxnSpPr>
          <p:spPr>
            <a:xfrm rot="5400000">
              <a:off x="5868144" y="2132856"/>
              <a:ext cx="432048" cy="127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Скругленная соединительная линия 34"/>
            <p:cNvCxnSpPr>
              <a:stCxn id="10" idx="6"/>
              <a:endCxn id="12" idx="2"/>
            </p:cNvCxnSpPr>
            <p:nvPr/>
          </p:nvCxnSpPr>
          <p:spPr>
            <a:xfrm>
              <a:off x="6300192" y="1700808"/>
              <a:ext cx="504056" cy="127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Скругленная соединительная линия 35"/>
            <p:cNvCxnSpPr>
              <a:stCxn id="12" idx="7"/>
              <a:endCxn id="12" idx="1"/>
            </p:cNvCxnSpPr>
            <p:nvPr/>
          </p:nvCxnSpPr>
          <p:spPr>
            <a:xfrm rot="16200000" flipV="1">
              <a:off x="7020272" y="1395304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hape 36"/>
            <p:cNvCxnSpPr>
              <a:stCxn id="12" idx="4"/>
              <a:endCxn id="11" idx="6"/>
            </p:cNvCxnSpPr>
            <p:nvPr/>
          </p:nvCxnSpPr>
          <p:spPr>
            <a:xfrm rot="5400000">
              <a:off x="6336196" y="1880828"/>
              <a:ext cx="648072" cy="720080"/>
            </a:xfrm>
            <a:prstGeom prst="curved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Скругленная соединительная линия 37"/>
            <p:cNvCxnSpPr>
              <a:stCxn id="11" idx="3"/>
              <a:endCxn id="11" idx="5"/>
            </p:cNvCxnSpPr>
            <p:nvPr/>
          </p:nvCxnSpPr>
          <p:spPr>
            <a:xfrm rot="16200000" flipH="1">
              <a:off x="6084168" y="2564904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372200" y="148478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34281" y="2922494"/>
              <a:ext cx="576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,2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32240" y="2276872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894185" y="1025551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96136" y="1988840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graphicFrame>
        <p:nvGraphicFramePr>
          <p:cNvPr id="45" name="Таблица 44"/>
          <p:cNvGraphicFramePr>
            <a:graphicFrameLocks noGrp="1"/>
          </p:cNvGraphicFramePr>
          <p:nvPr/>
        </p:nvGraphicFramePr>
        <p:xfrm>
          <a:off x="971600" y="3717032"/>
          <a:ext cx="3096344" cy="2320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86"/>
                <a:gridCol w="774086"/>
                <a:gridCol w="774086"/>
                <a:gridCol w="774086"/>
              </a:tblGrid>
              <a:tr h="324345"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Состояние</a:t>
                      </a:r>
                    </a:p>
                    <a:p>
                      <a:r>
                        <a:rPr lang="ru-RU" sz="1000" dirty="0" smtClean="0"/>
                        <a:t>(</a:t>
                      </a:r>
                      <a:r>
                        <a:rPr lang="en-US" sz="1000" dirty="0" smtClean="0"/>
                        <a:t>s)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Финальное?</a:t>
                      </a:r>
                      <a:r>
                        <a:rPr lang="en-US" sz="1000" dirty="0" smtClean="0"/>
                        <a:t> (fin)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Действие1</a:t>
                      </a:r>
                      <a:r>
                        <a:rPr lang="en-US" sz="1000" dirty="0" smtClean="0"/>
                        <a:t> ([1])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Действие2</a:t>
                      </a:r>
                      <a:r>
                        <a:rPr lang="en-US" sz="1000" dirty="0" smtClean="0"/>
                        <a:t> ([2])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  <a:tr h="29670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52837" marR="52837" marT="26419" marB="26419"/>
                </a:tc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/>
        </p:nvGraphicFramePr>
        <p:xfrm>
          <a:off x="5364088" y="3717032"/>
          <a:ext cx="30963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86"/>
                <a:gridCol w="774086"/>
                <a:gridCol w="774086"/>
                <a:gridCol w="77408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Состояние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(s)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Финальное?</a:t>
                      </a:r>
                      <a:r>
                        <a:rPr lang="en-US" sz="1000" dirty="0" smtClean="0"/>
                        <a:t> (fin)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Действие1</a:t>
                      </a:r>
                      <a:r>
                        <a:rPr lang="en-US" sz="1000" dirty="0" smtClean="0"/>
                        <a:t> ([1])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Действие2</a:t>
                      </a:r>
                      <a:r>
                        <a:rPr lang="en-US" sz="1000" dirty="0" smtClean="0"/>
                        <a:t> ([2])</a:t>
                      </a:r>
                      <a:endParaRPr lang="ru-RU" sz="1000" dirty="0"/>
                    </a:p>
                  </a:txBody>
                  <a:tcPr marL="52837" marR="52837" marT="26419" marB="2641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Вспомогательная структура для построения пересечения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9512" y="1412776"/>
          <a:ext cx="23279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80"/>
                <a:gridCol w="581980"/>
                <a:gridCol w="581980"/>
                <a:gridCol w="5819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[1]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[2]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627784" y="1412776"/>
          <a:ext cx="230425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[1]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[2]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012160" y="1412776"/>
          <a:ext cx="172819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576064"/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Полилиния 12"/>
          <p:cNvSpPr/>
          <p:nvPr/>
        </p:nvSpPr>
        <p:spPr>
          <a:xfrm>
            <a:off x="5652120" y="1988840"/>
            <a:ext cx="361950" cy="371475"/>
          </a:xfrm>
          <a:custGeom>
            <a:avLst/>
            <a:gdLst>
              <a:gd name="connsiteX0" fmla="*/ 361950 w 361950"/>
              <a:gd name="connsiteY0" fmla="*/ 0 h 371475"/>
              <a:gd name="connsiteX1" fmla="*/ 0 w 361950"/>
              <a:gd name="connsiteY1" fmla="*/ 190500 h 371475"/>
              <a:gd name="connsiteX2" fmla="*/ 361950 w 361950"/>
              <a:gd name="connsiteY2" fmla="*/ 371475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1950" h="371475">
                <a:moveTo>
                  <a:pt x="361950" y="0"/>
                </a:moveTo>
                <a:cubicBezTo>
                  <a:pt x="180975" y="64294"/>
                  <a:pt x="0" y="128588"/>
                  <a:pt x="0" y="190500"/>
                </a:cubicBezTo>
                <a:cubicBezTo>
                  <a:pt x="0" y="252412"/>
                  <a:pt x="303213" y="347663"/>
                  <a:pt x="361950" y="371475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/>
        </p:nvSpPr>
        <p:spPr>
          <a:xfrm>
            <a:off x="5513388" y="1943100"/>
            <a:ext cx="515937" cy="771525"/>
          </a:xfrm>
          <a:custGeom>
            <a:avLst/>
            <a:gdLst>
              <a:gd name="connsiteX0" fmla="*/ 506412 w 515937"/>
              <a:gd name="connsiteY0" fmla="*/ 0 h 771525"/>
              <a:gd name="connsiteX1" fmla="*/ 1587 w 515937"/>
              <a:gd name="connsiteY1" fmla="*/ 400050 h 771525"/>
              <a:gd name="connsiteX2" fmla="*/ 515937 w 515937"/>
              <a:gd name="connsiteY2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937" h="771525">
                <a:moveTo>
                  <a:pt x="506412" y="0"/>
                </a:moveTo>
                <a:cubicBezTo>
                  <a:pt x="253206" y="135731"/>
                  <a:pt x="0" y="271463"/>
                  <a:pt x="1587" y="400050"/>
                </a:cubicBezTo>
                <a:cubicBezTo>
                  <a:pt x="3175" y="528638"/>
                  <a:pt x="412750" y="701675"/>
                  <a:pt x="515937" y="771525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 16"/>
          <p:cNvSpPr/>
          <p:nvPr/>
        </p:nvSpPr>
        <p:spPr>
          <a:xfrm>
            <a:off x="5568950" y="2409825"/>
            <a:ext cx="469900" cy="682625"/>
          </a:xfrm>
          <a:custGeom>
            <a:avLst/>
            <a:gdLst>
              <a:gd name="connsiteX0" fmla="*/ 469900 w 469900"/>
              <a:gd name="connsiteY0" fmla="*/ 0 h 682625"/>
              <a:gd name="connsiteX1" fmla="*/ 3175 w 469900"/>
              <a:gd name="connsiteY1" fmla="*/ 276225 h 682625"/>
              <a:gd name="connsiteX2" fmla="*/ 450850 w 469900"/>
              <a:gd name="connsiteY2" fmla="*/ 666750 h 68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682625">
                <a:moveTo>
                  <a:pt x="469900" y="0"/>
                </a:moveTo>
                <a:cubicBezTo>
                  <a:pt x="238125" y="82550"/>
                  <a:pt x="6350" y="165100"/>
                  <a:pt x="3175" y="276225"/>
                </a:cubicBezTo>
                <a:cubicBezTo>
                  <a:pt x="0" y="387350"/>
                  <a:pt x="458787" y="682625"/>
                  <a:pt x="450850" y="66675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 17"/>
          <p:cNvSpPr/>
          <p:nvPr/>
        </p:nvSpPr>
        <p:spPr>
          <a:xfrm>
            <a:off x="5522913" y="2466975"/>
            <a:ext cx="496887" cy="981075"/>
          </a:xfrm>
          <a:custGeom>
            <a:avLst/>
            <a:gdLst>
              <a:gd name="connsiteX0" fmla="*/ 496887 w 496887"/>
              <a:gd name="connsiteY0" fmla="*/ 0 h 981075"/>
              <a:gd name="connsiteX1" fmla="*/ 1587 w 496887"/>
              <a:gd name="connsiteY1" fmla="*/ 590550 h 981075"/>
              <a:gd name="connsiteX2" fmla="*/ 487362 w 496887"/>
              <a:gd name="connsiteY2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6887" h="981075">
                <a:moveTo>
                  <a:pt x="496887" y="0"/>
                </a:moveTo>
                <a:cubicBezTo>
                  <a:pt x="250030" y="213519"/>
                  <a:pt x="3174" y="427038"/>
                  <a:pt x="1587" y="590550"/>
                </a:cubicBezTo>
                <a:cubicBezTo>
                  <a:pt x="0" y="754062"/>
                  <a:pt x="434975" y="960438"/>
                  <a:pt x="487362" y="981075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 18"/>
          <p:cNvSpPr/>
          <p:nvPr/>
        </p:nvSpPr>
        <p:spPr>
          <a:xfrm>
            <a:off x="5407025" y="2781300"/>
            <a:ext cx="622300" cy="1101725"/>
          </a:xfrm>
          <a:custGeom>
            <a:avLst/>
            <a:gdLst>
              <a:gd name="connsiteX0" fmla="*/ 603250 w 622300"/>
              <a:gd name="connsiteY0" fmla="*/ 0 h 1101725"/>
              <a:gd name="connsiteX1" fmla="*/ 3175 w 622300"/>
              <a:gd name="connsiteY1" fmla="*/ 704850 h 1101725"/>
              <a:gd name="connsiteX2" fmla="*/ 622300 w 622300"/>
              <a:gd name="connsiteY2" fmla="*/ 1076325 h 110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2300" h="1101725">
                <a:moveTo>
                  <a:pt x="603250" y="0"/>
                </a:moveTo>
                <a:cubicBezTo>
                  <a:pt x="301625" y="262731"/>
                  <a:pt x="0" y="525463"/>
                  <a:pt x="3175" y="704850"/>
                </a:cubicBezTo>
                <a:cubicBezTo>
                  <a:pt x="6350" y="884237"/>
                  <a:pt x="519113" y="1101725"/>
                  <a:pt x="622300" y="107632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олилиния 19"/>
          <p:cNvSpPr/>
          <p:nvPr/>
        </p:nvSpPr>
        <p:spPr>
          <a:xfrm>
            <a:off x="5351463" y="2838450"/>
            <a:ext cx="687387" cy="1409700"/>
          </a:xfrm>
          <a:custGeom>
            <a:avLst/>
            <a:gdLst>
              <a:gd name="connsiteX0" fmla="*/ 677862 w 687387"/>
              <a:gd name="connsiteY0" fmla="*/ 0 h 1409700"/>
              <a:gd name="connsiteX1" fmla="*/ 1587 w 687387"/>
              <a:gd name="connsiteY1" fmla="*/ 971550 h 1409700"/>
              <a:gd name="connsiteX2" fmla="*/ 687387 w 687387"/>
              <a:gd name="connsiteY2" fmla="*/ 13335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87" h="1409700">
                <a:moveTo>
                  <a:pt x="677862" y="0"/>
                </a:moveTo>
                <a:cubicBezTo>
                  <a:pt x="338931" y="374650"/>
                  <a:pt x="0" y="749300"/>
                  <a:pt x="1587" y="971550"/>
                </a:cubicBezTo>
                <a:cubicBezTo>
                  <a:pt x="3175" y="1193800"/>
                  <a:pt x="231775" y="1409700"/>
                  <a:pt x="687387" y="13335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251520" y="4941168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Структура, представленная справа реализована с помощью контейнера </a:t>
            </a:r>
            <a:r>
              <a:rPr lang="en-US" dirty="0" smtClean="0"/>
              <a:t>STL – list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Была написана программа, реализующая нахождение правого частного. На вход программы подаётся два полуавтомата, на выходе - правое частное первого полуавтомата относительно второго</a:t>
            </a:r>
          </a:p>
          <a:p>
            <a:r>
              <a:rPr lang="ru-RU" dirty="0" smtClean="0"/>
              <a:t>Программа проверена на нескольких примерах, сбоев не обнаружено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 smtClean="0"/>
              <a:t>В дальнейшем планируется проверить программу на реальных примерах (</a:t>
            </a:r>
            <a:r>
              <a:rPr lang="en-US" sz="3200" dirty="0" smtClean="0"/>
              <a:t>PHP7</a:t>
            </a:r>
            <a:r>
              <a:rPr lang="ru-RU" sz="3200" dirty="0" smtClean="0"/>
              <a:t>)</a:t>
            </a:r>
          </a:p>
          <a:p>
            <a:r>
              <a:rPr lang="ru-RU" sz="3200" dirty="0" smtClean="0"/>
              <a:t>Также планируется программно реализовать построение левого частного</a:t>
            </a:r>
          </a:p>
          <a:p>
            <a:r>
              <a:rPr lang="ru-RU" sz="3200" dirty="0" smtClean="0"/>
              <a:t>Сравнить данный метод с методами Тайваньских коллег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Дальнейшая работа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4738538"/>
          </a:xfrm>
        </p:spPr>
        <p:txBody>
          <a:bodyPr>
            <a:noAutofit/>
          </a:bodyPr>
          <a:lstStyle/>
          <a:p>
            <a:pPr algn="ctr"/>
            <a:r>
              <a:rPr lang="ru-RU" sz="11500" dirty="0" smtClean="0"/>
              <a:t>Спасибо за внимание!</a:t>
            </a:r>
            <a:endParaRPr lang="ru-RU" sz="11500" dirty="0"/>
          </a:p>
        </p:txBody>
      </p:sp>
    </p:spTree>
    <p:extLst>
      <p:ext uri="{BB962C8B-B14F-4D97-AF65-F5344CB8AC3E}">
        <p14:creationId xmlns:p14="http://schemas.microsoft.com/office/powerpoint/2010/main" val="313203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одержимое 1"/>
          <p:cNvSpPr txBox="1">
            <a:spLocks/>
          </p:cNvSpPr>
          <p:nvPr/>
        </p:nvSpPr>
        <p:spPr>
          <a:xfrm>
            <a:off x="467544" y="1484784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ru-RU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Язык содержит всевозможные последовательности символов действий, по которым в полуавтомате есть переход из начального состояния в любое конечное.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7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ru-RU" sz="27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ru-RU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{a</a:t>
            </a:r>
            <a:r>
              <a:rPr kumimoji="0" lang="en-US" sz="28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</a:t>
            </a:r>
            <a:r>
              <a:rPr kumimoji="0" lang="en-US" sz="28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a}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Построение полуавтомата по языку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5148064" y="4005064"/>
            <a:ext cx="50405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6228184" y="4005064"/>
            <a:ext cx="50405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7236296" y="4005064"/>
            <a:ext cx="50405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Скругленная соединительная линия 10"/>
          <p:cNvCxnSpPr>
            <a:stCxn id="4" idx="7"/>
            <a:endCxn id="5" idx="1"/>
          </p:cNvCxnSpPr>
          <p:nvPr/>
        </p:nvCxnSpPr>
        <p:spPr>
          <a:xfrm rot="5400000" flipH="1" flipV="1">
            <a:off x="5940152" y="3717032"/>
            <a:ext cx="12700" cy="723698"/>
          </a:xfrm>
          <a:prstGeom prst="curvedConnector3">
            <a:avLst>
              <a:gd name="adj1" fmla="val 2381236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кругленная соединительная линия 12"/>
          <p:cNvCxnSpPr>
            <a:stCxn id="5" idx="7"/>
            <a:endCxn id="7" idx="1"/>
          </p:cNvCxnSpPr>
          <p:nvPr/>
        </p:nvCxnSpPr>
        <p:spPr>
          <a:xfrm rot="5400000" flipH="1" flipV="1">
            <a:off x="6984268" y="3753036"/>
            <a:ext cx="12700" cy="651690"/>
          </a:xfrm>
          <a:prstGeom prst="curvedConnector3">
            <a:avLst>
              <a:gd name="adj1" fmla="val 2381236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6372200" y="5229200"/>
            <a:ext cx="504056" cy="50405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55976" y="407707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732240" y="46531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796136" y="350100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6861625" y="350100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ru-RU" dirty="0"/>
          </a:p>
        </p:txBody>
      </p:sp>
      <p:cxnSp>
        <p:nvCxnSpPr>
          <p:cNvPr id="25" name="Shape 24"/>
          <p:cNvCxnSpPr>
            <a:stCxn id="4" idx="3"/>
            <a:endCxn id="4" idx="1"/>
          </p:cNvCxnSpPr>
          <p:nvPr/>
        </p:nvCxnSpPr>
        <p:spPr>
          <a:xfrm rot="5400000" flipH="1">
            <a:off x="5043670" y="4257092"/>
            <a:ext cx="356422" cy="12700"/>
          </a:xfrm>
          <a:prstGeom prst="curvedConnector5">
            <a:avLst>
              <a:gd name="adj1" fmla="val -64137"/>
              <a:gd name="adj2" fmla="val 5187709"/>
              <a:gd name="adj3" fmla="val 164137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5" idx="3"/>
            <a:endCxn id="5" idx="6"/>
          </p:cNvCxnSpPr>
          <p:nvPr/>
        </p:nvCxnSpPr>
        <p:spPr>
          <a:xfrm rot="5400000" flipH="1" flipV="1">
            <a:off x="6428014" y="4131078"/>
            <a:ext cx="178211" cy="430239"/>
          </a:xfrm>
          <a:prstGeom prst="curvedConnector4">
            <a:avLst>
              <a:gd name="adj1" fmla="val -169696"/>
              <a:gd name="adj2" fmla="val 153133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hape 30"/>
          <p:cNvCxnSpPr>
            <a:stCxn id="7" idx="4"/>
            <a:endCxn id="15" idx="6"/>
          </p:cNvCxnSpPr>
          <p:nvPr/>
        </p:nvCxnSpPr>
        <p:spPr>
          <a:xfrm rot="5400000">
            <a:off x="6696236" y="4689140"/>
            <a:ext cx="972108" cy="612068"/>
          </a:xfrm>
          <a:prstGeom prst="curvedConnector2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36296" y="49411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a, b</a:t>
            </a:r>
            <a:endParaRPr lang="ru-RU" dirty="0"/>
          </a:p>
        </p:txBody>
      </p:sp>
      <p:cxnSp>
        <p:nvCxnSpPr>
          <p:cNvPr id="35" name="Прямая со стрелкой 34"/>
          <p:cNvCxnSpPr/>
          <p:nvPr/>
        </p:nvCxnSpPr>
        <p:spPr>
          <a:xfrm>
            <a:off x="3203848" y="4293096"/>
            <a:ext cx="1008112" cy="0"/>
          </a:xfrm>
          <a:prstGeom prst="straightConnector1">
            <a:avLst/>
          </a:prstGeom>
          <a:ln w="762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Стрелка вниз 36"/>
          <p:cNvSpPr/>
          <p:nvPr/>
        </p:nvSpPr>
        <p:spPr>
          <a:xfrm>
            <a:off x="5327874" y="3501008"/>
            <a:ext cx="144016" cy="50405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Начальным состоянием пересечения является пара начальных состояний полуавтоматов</a:t>
            </a:r>
          </a:p>
          <a:p>
            <a:r>
              <a:rPr lang="ru-RU" dirty="0" smtClean="0"/>
              <a:t>Следующим состоянием пересечения по некоторому символу </a:t>
            </a:r>
            <a:r>
              <a:rPr lang="en-US" b="1" i="1" dirty="0" smtClean="0"/>
              <a:t>a</a:t>
            </a:r>
            <a:r>
              <a:rPr lang="ru-RU" dirty="0" smtClean="0"/>
              <a:t> будет пара состояний, первый член пары – следующее состояние по символу </a:t>
            </a:r>
            <a:r>
              <a:rPr lang="en-US" b="1" i="1" dirty="0" smtClean="0"/>
              <a:t>a </a:t>
            </a:r>
            <a:r>
              <a:rPr lang="ru-RU" dirty="0" smtClean="0"/>
              <a:t>из первого полуавтомата, второй член – из второго полуавтомата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Построение пересечения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построения пересечения</a:t>
            </a:r>
            <a:endParaRPr lang="ru-RU" dirty="0"/>
          </a:p>
        </p:txBody>
      </p:sp>
      <p:sp>
        <p:nvSpPr>
          <p:cNvPr id="10" name="Овал 9"/>
          <p:cNvSpPr/>
          <p:nvPr/>
        </p:nvSpPr>
        <p:spPr>
          <a:xfrm>
            <a:off x="5868144" y="1484784"/>
            <a:ext cx="432048" cy="43204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0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5868144" y="2348880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6804248" y="1484784"/>
            <a:ext cx="432048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ru-RU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4" name="Группа 63"/>
          <p:cNvGrpSpPr/>
          <p:nvPr/>
        </p:nvGrpSpPr>
        <p:grpSpPr>
          <a:xfrm>
            <a:off x="467544" y="1089538"/>
            <a:ext cx="3240360" cy="2539372"/>
            <a:chOff x="467544" y="1089538"/>
            <a:chExt cx="3240360" cy="2539372"/>
          </a:xfrm>
        </p:grpSpPr>
        <p:sp>
          <p:nvSpPr>
            <p:cNvPr id="4" name="Овал 3"/>
            <p:cNvSpPr/>
            <p:nvPr/>
          </p:nvSpPr>
          <p:spPr>
            <a:xfrm>
              <a:off x="539552" y="1556792"/>
              <a:ext cx="432048" cy="432048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0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1619672" y="1556792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2699792" y="1556792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53955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3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Овал 7"/>
            <p:cNvSpPr/>
            <p:nvPr/>
          </p:nvSpPr>
          <p:spPr>
            <a:xfrm>
              <a:off x="161967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dk1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ru-RU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Овал 8"/>
            <p:cNvSpPr/>
            <p:nvPr/>
          </p:nvSpPr>
          <p:spPr>
            <a:xfrm>
              <a:off x="2699792" y="2708920"/>
              <a:ext cx="432048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latin typeface="Courier New" pitchFamily="49" charset="0"/>
                  <a:cs typeface="Courier New" pitchFamily="49" charset="0"/>
                </a:rPr>
                <a:t>5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4" name="Прямая со стрелкой 13"/>
            <p:cNvCxnSpPr>
              <a:stCxn id="4" idx="6"/>
              <a:endCxn id="5" idx="2"/>
            </p:cNvCxnSpPr>
            <p:nvPr/>
          </p:nvCxnSpPr>
          <p:spPr>
            <a:xfrm>
              <a:off x="971600" y="1772816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>
              <a:stCxn id="4" idx="4"/>
              <a:endCxn id="7" idx="0"/>
            </p:cNvCxnSpPr>
            <p:nvPr/>
          </p:nvCxnSpPr>
          <p:spPr>
            <a:xfrm>
              <a:off x="755576" y="1988840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>
              <a:stCxn id="5" idx="6"/>
              <a:endCxn id="6" idx="2"/>
            </p:cNvCxnSpPr>
            <p:nvPr/>
          </p:nvCxnSpPr>
          <p:spPr>
            <a:xfrm>
              <a:off x="2051720" y="1772816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>
              <a:stCxn id="5" idx="0"/>
              <a:endCxn id="5" idx="0"/>
            </p:cNvCxnSpPr>
            <p:nvPr/>
          </p:nvCxnSpPr>
          <p:spPr>
            <a:xfrm>
              <a:off x="1835696" y="1556792"/>
              <a:ext cx="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6" idx="4"/>
              <a:endCxn id="9" idx="0"/>
            </p:cNvCxnSpPr>
            <p:nvPr/>
          </p:nvCxnSpPr>
          <p:spPr>
            <a:xfrm>
              <a:off x="2915816" y="1988840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>
              <a:stCxn id="7" idx="6"/>
              <a:endCxn id="8" idx="2"/>
            </p:cNvCxnSpPr>
            <p:nvPr/>
          </p:nvCxnSpPr>
          <p:spPr>
            <a:xfrm>
              <a:off x="971600" y="2924944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34"/>
            <p:cNvCxnSpPr>
              <a:stCxn id="7" idx="4"/>
              <a:endCxn id="9" idx="4"/>
            </p:cNvCxnSpPr>
            <p:nvPr/>
          </p:nvCxnSpPr>
          <p:spPr>
            <a:xfrm rot="16200000" flipH="1">
              <a:off x="1835696" y="2060848"/>
              <a:ext cx="12700" cy="2160240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>
              <a:stCxn id="8" idx="6"/>
              <a:endCxn id="9" idx="2"/>
            </p:cNvCxnSpPr>
            <p:nvPr/>
          </p:nvCxnSpPr>
          <p:spPr>
            <a:xfrm>
              <a:off x="2051720" y="2924944"/>
              <a:ext cx="648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hape 42"/>
            <p:cNvCxnSpPr>
              <a:stCxn id="9" idx="4"/>
              <a:endCxn id="9" idx="6"/>
            </p:cNvCxnSpPr>
            <p:nvPr/>
          </p:nvCxnSpPr>
          <p:spPr>
            <a:xfrm rot="5400000" flipH="1" flipV="1">
              <a:off x="2915816" y="2924944"/>
              <a:ext cx="216024" cy="216024"/>
            </a:xfrm>
            <a:prstGeom prst="curvedConnector4">
              <a:avLst>
                <a:gd name="adj1" fmla="val -105822"/>
                <a:gd name="adj2" fmla="val 205822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Скругленная соединительная линия 44"/>
            <p:cNvCxnSpPr>
              <a:stCxn id="5" idx="1"/>
              <a:endCxn id="5" idx="7"/>
            </p:cNvCxnSpPr>
            <p:nvPr/>
          </p:nvCxnSpPr>
          <p:spPr>
            <a:xfrm rot="5400000" flipH="1" flipV="1">
              <a:off x="1835696" y="1467312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Скругленная соединительная линия 46"/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2915816" y="1467312"/>
              <a:ext cx="12700" cy="305504"/>
            </a:xfrm>
            <a:prstGeom prst="curvedConnector3">
              <a:avLst>
                <a:gd name="adj1" fmla="val 2298205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115616" y="148478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95237" y="108953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43808" y="220486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15616" y="2887270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23728" y="2898050"/>
              <a:ext cx="504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,2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03848" y="3212976"/>
              <a:ext cx="5040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i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,2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7544" y="220486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763688" y="3321133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95736" y="1520642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780764" y="1097560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 smtClean="0">
                  <a:latin typeface="Courier New" pitchFamily="49" charset="0"/>
                  <a:cs typeface="Courier New" pitchFamily="49" charset="0"/>
                </a:rPr>
                <a:t>2</a:t>
              </a:r>
              <a:endParaRPr lang="ru-RU" sz="1400" i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cxnSp>
        <p:nvCxnSpPr>
          <p:cNvPr id="60" name="Скругленная соединительная линия 59"/>
          <p:cNvCxnSpPr>
            <a:stCxn id="10" idx="4"/>
            <a:endCxn id="11" idx="0"/>
          </p:cNvCxnSpPr>
          <p:nvPr/>
        </p:nvCxnSpPr>
        <p:spPr>
          <a:xfrm rot="5400000">
            <a:off x="5868144" y="2132856"/>
            <a:ext cx="432048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кругленная соединительная линия 62"/>
          <p:cNvCxnSpPr>
            <a:stCxn id="10" idx="6"/>
            <a:endCxn id="12" idx="2"/>
          </p:cNvCxnSpPr>
          <p:nvPr/>
        </p:nvCxnSpPr>
        <p:spPr>
          <a:xfrm>
            <a:off x="6300192" y="1700808"/>
            <a:ext cx="504056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Скругленная соединительная линия 64"/>
          <p:cNvCxnSpPr>
            <a:stCxn id="12" idx="7"/>
            <a:endCxn id="12" idx="1"/>
          </p:cNvCxnSpPr>
          <p:nvPr/>
        </p:nvCxnSpPr>
        <p:spPr>
          <a:xfrm rot="16200000" flipV="1">
            <a:off x="7020272" y="1395304"/>
            <a:ext cx="12700" cy="305504"/>
          </a:xfrm>
          <a:prstGeom prst="curvedConnector3">
            <a:avLst>
              <a:gd name="adj1" fmla="val 22982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hape 66"/>
          <p:cNvCxnSpPr>
            <a:stCxn id="12" idx="4"/>
            <a:endCxn id="11" idx="6"/>
          </p:cNvCxnSpPr>
          <p:nvPr/>
        </p:nvCxnSpPr>
        <p:spPr>
          <a:xfrm rot="5400000">
            <a:off x="6336196" y="1880828"/>
            <a:ext cx="648072" cy="720080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Скругленная соединительная линия 68"/>
          <p:cNvCxnSpPr>
            <a:stCxn id="11" idx="3"/>
            <a:endCxn id="11" idx="5"/>
          </p:cNvCxnSpPr>
          <p:nvPr/>
        </p:nvCxnSpPr>
        <p:spPr>
          <a:xfrm rot="16200000" flipH="1">
            <a:off x="6084168" y="2564904"/>
            <a:ext cx="12700" cy="305504"/>
          </a:xfrm>
          <a:prstGeom prst="curvedConnector3">
            <a:avLst>
              <a:gd name="adj1" fmla="val 22982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372200" y="148478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34281" y="2922494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,2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2240" y="2276872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4185" y="102555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6" name="Овал 75"/>
          <p:cNvSpPr/>
          <p:nvPr/>
        </p:nvSpPr>
        <p:spPr>
          <a:xfrm>
            <a:off x="3131840" y="4221088"/>
            <a:ext cx="504056" cy="5040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00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1" name="Овал 80"/>
          <p:cNvSpPr/>
          <p:nvPr/>
        </p:nvSpPr>
        <p:spPr>
          <a:xfrm>
            <a:off x="4211960" y="4221088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12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3" name="Скругленная соединительная линия 82"/>
          <p:cNvCxnSpPr>
            <a:stCxn id="76" idx="6"/>
            <a:endCxn id="81" idx="2"/>
          </p:cNvCxnSpPr>
          <p:nvPr/>
        </p:nvCxnSpPr>
        <p:spPr>
          <a:xfrm>
            <a:off x="3635896" y="4473116"/>
            <a:ext cx="576064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761624" y="4221088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96136" y="198884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87" name="Овал 86"/>
          <p:cNvSpPr/>
          <p:nvPr/>
        </p:nvSpPr>
        <p:spPr>
          <a:xfrm>
            <a:off x="3131840" y="5301208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31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9" name="Скругленная соединительная линия 88"/>
          <p:cNvCxnSpPr>
            <a:stCxn id="76" idx="4"/>
            <a:endCxn id="87" idx="0"/>
          </p:cNvCxnSpPr>
          <p:nvPr/>
        </p:nvCxnSpPr>
        <p:spPr>
          <a:xfrm rot="5400000">
            <a:off x="3095836" y="5013176"/>
            <a:ext cx="576064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131840" y="4849415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2" name="Скругленная соединительная линия 91"/>
          <p:cNvCxnSpPr>
            <a:stCxn id="81" idx="1"/>
            <a:endCxn id="81" idx="7"/>
          </p:cNvCxnSpPr>
          <p:nvPr/>
        </p:nvCxnSpPr>
        <p:spPr>
          <a:xfrm rot="5400000" flipH="1" flipV="1">
            <a:off x="4463988" y="4116694"/>
            <a:ext cx="12700" cy="356422"/>
          </a:xfrm>
          <a:prstGeom prst="curvedConnector3">
            <a:avLst>
              <a:gd name="adj1" fmla="val 23812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337688" y="374446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96" name="Овал 95"/>
          <p:cNvSpPr/>
          <p:nvPr/>
        </p:nvSpPr>
        <p:spPr>
          <a:xfrm>
            <a:off x="5292080" y="4221088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22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8" name="Скругленная соединительная линия 97"/>
          <p:cNvCxnSpPr>
            <a:stCxn id="81" idx="6"/>
            <a:endCxn id="96" idx="2"/>
          </p:cNvCxnSpPr>
          <p:nvPr/>
        </p:nvCxnSpPr>
        <p:spPr>
          <a:xfrm>
            <a:off x="4716016" y="4473116"/>
            <a:ext cx="576064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860032" y="4221088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1" name="Овал 100"/>
          <p:cNvSpPr/>
          <p:nvPr/>
        </p:nvSpPr>
        <p:spPr>
          <a:xfrm>
            <a:off x="4211960" y="5301208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42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3" name="Скругленная соединительная линия 102"/>
          <p:cNvCxnSpPr>
            <a:stCxn id="87" idx="6"/>
            <a:endCxn id="101" idx="2"/>
          </p:cNvCxnSpPr>
          <p:nvPr/>
        </p:nvCxnSpPr>
        <p:spPr>
          <a:xfrm>
            <a:off x="3635896" y="5553236"/>
            <a:ext cx="576064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779912" y="5301208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06" name="Овал 105"/>
          <p:cNvSpPr/>
          <p:nvPr/>
        </p:nvSpPr>
        <p:spPr>
          <a:xfrm>
            <a:off x="4211960" y="6021288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51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8" name="Shape 107"/>
          <p:cNvCxnSpPr>
            <a:stCxn id="87" idx="4"/>
            <a:endCxn id="106" idx="2"/>
          </p:cNvCxnSpPr>
          <p:nvPr/>
        </p:nvCxnSpPr>
        <p:spPr>
          <a:xfrm rot="16200000" flipH="1">
            <a:off x="3563888" y="5625244"/>
            <a:ext cx="468052" cy="828092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491880" y="6093296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ru-RU" sz="14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0" name="Овал 109"/>
          <p:cNvSpPr/>
          <p:nvPr/>
        </p:nvSpPr>
        <p:spPr>
          <a:xfrm>
            <a:off x="5436096" y="5445224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Овал 110"/>
          <p:cNvSpPr/>
          <p:nvPr/>
        </p:nvSpPr>
        <p:spPr>
          <a:xfrm>
            <a:off x="5580112" y="5445224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2" name="Овал 111"/>
          <p:cNvSpPr/>
          <p:nvPr/>
        </p:nvSpPr>
        <p:spPr>
          <a:xfrm>
            <a:off x="5724128" y="5445224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1145B-2EB5-4CFD-B752-AB1DC1C49C9B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12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944</TotalTime>
  <Words>647</Words>
  <Application>Microsoft Office PowerPoint</Application>
  <PresentationFormat>Экран (4:3)</PresentationFormat>
  <Paragraphs>256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Открытая</vt:lpstr>
      <vt:lpstr>Программная реализация нахождения правого частного на полуавтоматах</vt:lpstr>
      <vt:lpstr>Актуальность</vt:lpstr>
      <vt:lpstr>Актуальность (2)</vt:lpstr>
      <vt:lpstr>Цель</vt:lpstr>
      <vt:lpstr>Задачи</vt:lpstr>
      <vt:lpstr>Правое частное</vt:lpstr>
      <vt:lpstr>Основные моменты алгоритма построения правого частного</vt:lpstr>
      <vt:lpstr>Представление полуавтоматов</vt:lpstr>
      <vt:lpstr>Вспомогательная структура для построения пересечения</vt:lpstr>
      <vt:lpstr>Заключение</vt:lpstr>
      <vt:lpstr>Дальнейшая работа</vt:lpstr>
      <vt:lpstr>Спасибо за внимание!</vt:lpstr>
      <vt:lpstr>Построение полуавтомата по языку</vt:lpstr>
      <vt:lpstr>Построение пересечения</vt:lpstr>
      <vt:lpstr>Пример построения пересечения</vt:lpstr>
    </vt:vector>
  </TitlesOfParts>
  <Company>RePack by SPecialiST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Правое частное</dc:title>
  <dc:creator>Sotnik</dc:creator>
  <cp:lastModifiedBy>Хамяк</cp:lastModifiedBy>
  <cp:revision>77</cp:revision>
  <dcterms:created xsi:type="dcterms:W3CDTF">2017-11-19T14:28:18Z</dcterms:created>
  <dcterms:modified xsi:type="dcterms:W3CDTF">2017-12-22T04:35:24Z</dcterms:modified>
</cp:coreProperties>
</file>